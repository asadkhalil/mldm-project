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E060B-68C7-4E7F-AB9B-E00C5C44A25E}">
  <a:tblStyle styleId="{A08E060B-68C7-4E7F-AB9B-E00C5C44A2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790edaf1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5f790edaf1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790edaf1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5f790edaf1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f790edaf1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5f790edaf1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f83180938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5f83180938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9cfd168e4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89cfd168e4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9cfd168e4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hello how are you</a:t>
            </a:r>
            <a:endParaRPr/>
          </a:p>
        </p:txBody>
      </p:sp>
      <p:sp>
        <p:nvSpPr>
          <p:cNvPr id="239" name="Google Shape;239;g389cfd168e4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9cfd168e4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9cfd168e4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f83180938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5f83180938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137333c9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137333c9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2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E2D69"/>
                </a:solidFill>
              </a:defRPr>
            </a:lvl1pPr>
            <a:lvl2pPr lvl="1">
              <a:buNone/>
              <a:defRPr>
                <a:solidFill>
                  <a:srgbClr val="0E2D69"/>
                </a:solidFill>
              </a:defRPr>
            </a:lvl2pPr>
            <a:lvl3pPr lvl="2">
              <a:buNone/>
              <a:defRPr>
                <a:solidFill>
                  <a:srgbClr val="0E2D69"/>
                </a:solidFill>
              </a:defRPr>
            </a:lvl3pPr>
            <a:lvl4pPr lvl="3">
              <a:buNone/>
              <a:defRPr>
                <a:solidFill>
                  <a:srgbClr val="0E2D69"/>
                </a:solidFill>
              </a:defRPr>
            </a:lvl4pPr>
            <a:lvl5pPr lvl="4">
              <a:buNone/>
              <a:defRPr>
                <a:solidFill>
                  <a:srgbClr val="0E2D69"/>
                </a:solidFill>
              </a:defRPr>
            </a:lvl5pPr>
            <a:lvl6pPr lvl="5">
              <a:buNone/>
              <a:defRPr>
                <a:solidFill>
                  <a:srgbClr val="0E2D69"/>
                </a:solidFill>
              </a:defRPr>
            </a:lvl6pPr>
            <a:lvl7pPr lvl="6">
              <a:buNone/>
              <a:defRPr>
                <a:solidFill>
                  <a:srgbClr val="0E2D69"/>
                </a:solidFill>
              </a:defRPr>
            </a:lvl7pPr>
            <a:lvl8pPr lvl="7">
              <a:buNone/>
              <a:defRPr>
                <a:solidFill>
                  <a:srgbClr val="0E2D69"/>
                </a:solidFill>
              </a:defRPr>
            </a:lvl8pPr>
            <a:lvl9pPr lvl="8">
              <a:buNone/>
              <a:defRPr>
                <a:solidFill>
                  <a:srgbClr val="0E2D6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" name="Google Shape;39;p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" name="Google Shape;42;p4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4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"/>
          <p:cNvSpPr/>
          <p:nvPr>
            <p:ph idx="3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0" name="Google Shape;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p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" name="Google Shape;54;p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5"/>
          <p:cNvSpPr/>
          <p:nvPr>
            <p:ph idx="2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3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5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" name="Google Shape;66;p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" name="Google Shape;67;p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6"/>
          <p:cNvSpPr txBox="1"/>
          <p:nvPr>
            <p:ph idx="1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6"/>
          <p:cNvSpPr/>
          <p:nvPr>
            <p:ph idx="3" type="tbl"/>
          </p:nvPr>
        </p:nvSpPr>
        <p:spPr>
          <a:xfrm>
            <a:off x="585787" y="1984076"/>
            <a:ext cx="11058527" cy="351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7" name="Google Shape;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" name="Google Shape;79;p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p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7"/>
          <p:cNvSpPr txBox="1"/>
          <p:nvPr>
            <p:ph idx="1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2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7"/>
          <p:cNvSpPr/>
          <p:nvPr>
            <p:ph idx="3" type="tbl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4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5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6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7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8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8" name="Google Shape;98;p8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8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>
            <p:ph idx="2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8"/>
          <p:cNvSpPr txBox="1"/>
          <p:nvPr>
            <p:ph idx="3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8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9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1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1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11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idx="2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3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1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1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1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2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3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6" name="Google Shape;156;p12"/>
          <p:cNvSpPr txBox="1"/>
          <p:nvPr>
            <p:ph idx="4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5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12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13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3"/>
          <p:cNvSpPr txBox="1"/>
          <p:nvPr>
            <p:ph idx="2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3"/>
          <p:cNvSpPr txBox="1"/>
          <p:nvPr>
            <p:ph idx="3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13"/>
          <p:cNvSpPr txBox="1"/>
          <p:nvPr>
            <p:ph idx="4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13"/>
          <p:cNvSpPr txBox="1"/>
          <p:nvPr>
            <p:ph idx="5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6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7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8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9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870"/>
              <a:buFont typeface="Arial"/>
              <a:buNone/>
            </a:pPr>
            <a:r>
              <a:rPr lang="ru-RU" sz="3770"/>
              <a:t>QLORA: Efficient Finetuning of Quantized LLMs</a:t>
            </a:r>
            <a:endParaRPr sz="3770"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Faculty of Computer Science </a:t>
            </a:r>
            <a:endParaRPr/>
          </a:p>
        </p:txBody>
      </p:sp>
      <p:sp>
        <p:nvSpPr>
          <p:cNvPr id="182" name="Google Shape;182;p14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Data Science</a:t>
            </a:r>
            <a:endParaRPr/>
          </a:p>
        </p:txBody>
      </p:sp>
      <p:sp>
        <p:nvSpPr>
          <p:cNvPr id="183" name="Google Shape;183;p14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 txBox="1"/>
          <p:nvPr>
            <p:ph idx="4" type="body"/>
          </p:nvPr>
        </p:nvSpPr>
        <p:spPr>
          <a:xfrm>
            <a:off x="1110725" y="4383000"/>
            <a:ext cx="80379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60"/>
              <a:buFont typeface="Arial"/>
              <a:buNone/>
            </a:pPr>
            <a:r>
              <a:t/>
            </a:r>
            <a:endParaRPr sz="156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60"/>
              <a:buFont typeface="Arial"/>
              <a:buNone/>
            </a:pPr>
            <a:r>
              <a:rPr lang="ru-RU" sz="1560"/>
              <a:t>Muhammad Asad</a:t>
            </a:r>
            <a:endParaRPr sz="156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60"/>
              <a:buFont typeface="Arial"/>
              <a:buNone/>
            </a:pPr>
            <a:r>
              <a:rPr lang="ru-RU" sz="1560"/>
              <a:t>Conference: NeurIPS 2023</a:t>
            </a:r>
            <a:endParaRPr sz="156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60"/>
              <a:buFont typeface="Arial"/>
              <a:buNone/>
            </a:pPr>
            <a:r>
              <a:t/>
            </a:r>
            <a:endParaRPr sz="1560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60"/>
              <a:buFont typeface="Arial"/>
              <a:buNone/>
            </a:pPr>
            <a:r>
              <a:t/>
            </a:r>
            <a:endParaRPr sz="15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585901" y="1447800"/>
            <a:ext cx="6790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The Problem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585900" y="2379675"/>
            <a:ext cx="81114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The Reality: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Consumer GPUs: 8-24 GB VRAM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Professional GPUs (A100): 40-80 GB VRAM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Fine-tuning 65B model: Requires 780+ GB for optimizer states!</a:t>
            </a:r>
            <a:endParaRPr sz="17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1" name="Google Shape;191;p15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192" name="Google Shape;192;p15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193" name="Google Shape;193;p15"/>
          <p:cNvSpPr txBox="1"/>
          <p:nvPr>
            <p:ph idx="5" type="body"/>
          </p:nvPr>
        </p:nvSpPr>
        <p:spPr>
          <a:xfrm>
            <a:off x="61836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graphicFrame>
        <p:nvGraphicFramePr>
          <p:cNvPr id="194" name="Google Shape;194;p15"/>
          <p:cNvGraphicFramePr/>
          <p:nvPr/>
        </p:nvGraphicFramePr>
        <p:xfrm>
          <a:off x="666275" y="418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{A08E060B-68C7-4E7F-AB9B-E00C5C44A25E}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Model 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Parameters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FP32 Memory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FP16 Memory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LLaMa-7B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7B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28GB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14GB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LLaMa-13B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13B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52GB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26GB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LLaMa-65B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65B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260GB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130GB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585898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QLoRA</a:t>
            </a:r>
            <a:endParaRPr/>
          </a:p>
        </p:txBody>
      </p:sp>
      <p:sp>
        <p:nvSpPr>
          <p:cNvPr id="200" name="Google Shape;200;p16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01" name="Google Shape;201;p16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02" name="Google Shape;202;p16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03" name="Google Shape;203;p16" title="deepseek_mermaid_20251217_41e7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899" y="1996975"/>
            <a:ext cx="9454525" cy="45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661575" y="1394375"/>
            <a:ext cx="57933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How it Works</a:t>
            </a:r>
            <a:endParaRPr/>
          </a:p>
        </p:txBody>
      </p:sp>
      <p:sp>
        <p:nvSpPr>
          <p:cNvPr id="209" name="Google Shape;209;p17"/>
          <p:cNvSpPr txBox="1"/>
          <p:nvPr>
            <p:ph idx="1" type="body"/>
          </p:nvPr>
        </p:nvSpPr>
        <p:spPr>
          <a:xfrm>
            <a:off x="585901" y="2379675"/>
            <a:ext cx="51504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Memory During Training: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Base weights: **4-bit** (frozen, quantized)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LoRA weights: **16-bit** (trainable, ~0.2% of total)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Gradients: Only for LoRA parameters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Optimizer states: Only for LoRA parameters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11" name="Google Shape;211;p17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12" name="Google Shape;212;p17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pic>
        <p:nvPicPr>
          <p:cNvPr id="214" name="Google Shape;2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999" y="1109125"/>
            <a:ext cx="5299525" cy="559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585900" y="1447800"/>
            <a:ext cx="8452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None/>
            </a:pPr>
            <a:r>
              <a:rPr lang="ru-RU" sz="2460"/>
              <a:t>Methodology and Experiments</a:t>
            </a:r>
            <a:endParaRPr sz="2460"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585900" y="2379675"/>
            <a:ext cx="54477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 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NF4 Data Type: Novel 4-bit quantization optimized for normally distributed weights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Double Quantization: Secondary quantization of scaling factors for additional compression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Paged Optimizers: CPU↔GPU memory paging for optimizer states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1" name="Google Shape;221;p18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22" name="Google Shape;222;p18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23" name="Google Shape;223;p18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Conclusion</a:t>
            </a:r>
            <a:endParaRPr/>
          </a:p>
        </p:txBody>
      </p:sp>
      <p:sp>
        <p:nvSpPr>
          <p:cNvPr id="224" name="Google Shape;224;p18"/>
          <p:cNvSpPr txBox="1"/>
          <p:nvPr>
            <p:ph idx="1" type="body"/>
          </p:nvPr>
        </p:nvSpPr>
        <p:spPr>
          <a:xfrm>
            <a:off x="5879375" y="2379675"/>
            <a:ext cx="59340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700"/>
              <a:t>Experiments</a:t>
            </a:r>
            <a:endParaRPr b="1"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Guanaco Model Family: State-of-the-art chatbots fine-tuned with QLoRA</a:t>
            </a:r>
            <a:endParaRPr sz="1700"/>
          </a:p>
          <a:p>
            <a:pPr indent="-336550" lvl="0" marL="9144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Guanaco-65B reaches 99.3% of ChatGPT performance</a:t>
            </a:r>
            <a:endParaRPr sz="1700"/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Trained on single GPU in 24 hours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Systematic Study: 1,000+ model evaluations across different configurations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585900" y="1447800"/>
            <a:ext cx="69336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Experimental Setup</a:t>
            </a:r>
            <a:endParaRPr/>
          </a:p>
        </p:txBody>
      </p:sp>
      <p:sp>
        <p:nvSpPr>
          <p:cNvPr id="230" name="Google Shape;230;p19"/>
          <p:cNvSpPr txBox="1"/>
          <p:nvPr>
            <p:ph idx="1" type="body"/>
          </p:nvPr>
        </p:nvSpPr>
        <p:spPr>
          <a:xfrm>
            <a:off x="585901" y="2379675"/>
            <a:ext cx="63723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500"/>
              <a:t>Original Implementation Test: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Model: TinyLlama-1.1B-Chat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Dataset: Alpaca (instruction following)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Training: 50 steps with gradient checkpointing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Hardware: GPU with CUDA support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500"/>
              <a:t>Metrics Collected: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Quantization Error (Mean Absolute Error)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Memory Usage (GPU allocated)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Training Loss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/>
              <a:t>Training Time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1" name="Google Shape;231;p19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32" name="Google Shape;232;p19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33" name="Google Shape;233;p19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sp>
        <p:nvSpPr>
          <p:cNvPr id="235" name="Google Shape;235;p19"/>
          <p:cNvSpPr txBox="1"/>
          <p:nvPr>
            <p:ph idx="1" type="body"/>
          </p:nvPr>
        </p:nvSpPr>
        <p:spPr>
          <a:xfrm>
            <a:off x="7211325" y="2147725"/>
            <a:ext cx="4628400" cy="1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236" name="Google Shape;2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0601" y="2147725"/>
            <a:ext cx="4928999" cy="1646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585898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Results Training Performance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585901" y="2379675"/>
            <a:ext cx="57531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LoRA Parameter Efficiency: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Total Parameters: 666,068,992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Trainable (LoRA): 50,462,720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43" name="Google Shape;243;p20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44" name="Google Shape;244;p20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45" name="Google Shape;245;p20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pic>
        <p:nvPicPr>
          <p:cNvPr id="247" name="Google Shape;2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225" y="2037677"/>
            <a:ext cx="5753100" cy="18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626" y="3798352"/>
            <a:ext cx="507682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type="title"/>
          </p:nvPr>
        </p:nvSpPr>
        <p:spPr>
          <a:xfrm>
            <a:off x="585901" y="1447800"/>
            <a:ext cx="8281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Experimental Results Visualization</a:t>
            </a:r>
            <a:endParaRPr/>
          </a:p>
        </p:txBody>
      </p:sp>
      <p:sp>
        <p:nvSpPr>
          <p:cNvPr id="254" name="Google Shape;254;p21"/>
          <p:cNvSpPr txBox="1"/>
          <p:nvPr>
            <p:ph idx="1" type="body"/>
          </p:nvPr>
        </p:nvSpPr>
        <p:spPr>
          <a:xfrm>
            <a:off x="585901" y="2379675"/>
            <a:ext cx="4522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Quantization Error (Top Left): NF4 and FP4 tie; No-DQ has 54% more error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Memory Efficiency (Top Right): Low-rank LoRA (r=16) achieves 65.8% savings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NF4 vs FP4 (Bottom Left): Essentially equal in our synthetic tests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/>
              <a:t>LoRA Reduction (Bottom Right): 96.9% parameter reduction with r=64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5" name="Google Shape;255;p21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56" name="Google Shape;256;p21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57" name="Google Shape;257;p21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58" name="Google Shape;258;p21" title="comparison_plo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875" y="1911275"/>
            <a:ext cx="6622551" cy="470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type="title"/>
          </p:nvPr>
        </p:nvSpPr>
        <p:spPr>
          <a:xfrm>
            <a:off x="585898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500"/>
              <a:t>Limitations </a:t>
            </a:r>
            <a:endParaRPr sz="2500"/>
          </a:p>
        </p:txBody>
      </p:sp>
      <p:sp>
        <p:nvSpPr>
          <p:cNvPr id="264" name="Google Shape;264;p22"/>
          <p:cNvSpPr txBox="1"/>
          <p:nvPr>
            <p:ph idx="1" type="body"/>
          </p:nvPr>
        </p:nvSpPr>
        <p:spPr>
          <a:xfrm>
            <a:off x="585902" y="2379675"/>
            <a:ext cx="95856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Inference Speed: Quantized models may have slower inference due to dequantization overhead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Hardware Dependency: Optimal performance requires specific GPU support for 4-bit operations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Task Complexity: Very complex tasks may need higher LoRA ranks, reducing efficiency gains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u-RU" sz="1700"/>
              <a:t>Catastrophic Forgetting: Like all fine-tuning, risk of forgetting pre-training knowledge</a:t>
            </a:r>
            <a:endParaRPr sz="17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5" name="Google Shape;265;p22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66" name="Google Shape;266;p22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67" name="Google Shape;267;p22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>
            <p:ph type="title"/>
          </p:nvPr>
        </p:nvSpPr>
        <p:spPr>
          <a:xfrm>
            <a:off x="585901" y="1447800"/>
            <a:ext cx="76161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500"/>
              <a:t>Conclusion</a:t>
            </a:r>
            <a:endParaRPr sz="2500"/>
          </a:p>
        </p:txBody>
      </p:sp>
      <p:sp>
        <p:nvSpPr>
          <p:cNvPr id="273" name="Google Shape;273;p23"/>
          <p:cNvSpPr txBox="1"/>
          <p:nvPr>
            <p:ph idx="1" type="body"/>
          </p:nvPr>
        </p:nvSpPr>
        <p:spPr>
          <a:xfrm>
            <a:off x="585902" y="2379675"/>
            <a:ext cx="95856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ru-RU" sz="1600"/>
              <a:t>Implementation Takeaway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ru-RU" sz="1600"/>
              <a:t>Built complete QLoRA from scratch: NF4, Double Quant, LoRA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ru-RU" sz="1600"/>
              <a:t>Verified theoretical memory savings in practice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ru-RU" sz="1600"/>
              <a:t>Confirmed NF4 outperforms FP4 in memory efficiency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ru-RU" sz="1600"/>
              <a:t>Understanding the algorithms deepens appreciation for the elegance</a:t>
            </a:r>
            <a:endParaRPr b="1" sz="1600"/>
          </a:p>
        </p:txBody>
      </p:sp>
      <p:sp>
        <p:nvSpPr>
          <p:cNvPr id="274" name="Google Shape;274;p23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E2D69"/>
                </a:solidFill>
              </a:rPr>
              <a:t>Data Science</a:t>
            </a:r>
            <a:endParaRPr sz="1200">
              <a:solidFill>
                <a:srgbClr val="0E2D6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275" name="Google Shape;275;p23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Developing LLM</a:t>
            </a:r>
            <a:endParaRPr/>
          </a:p>
        </p:txBody>
      </p:sp>
      <p:sp>
        <p:nvSpPr>
          <p:cNvPr id="276" name="Google Shape;276;p23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